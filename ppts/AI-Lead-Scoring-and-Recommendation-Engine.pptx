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842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Lead Scoring &amp; Recommendation Engine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875532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66CC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4 — SalesGenie CRM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96119" y="2255416"/>
            <a:ext cx="8151763" cy="1111597"/>
          </a:xfrm>
          <a:prstGeom prst="roundRect">
            <a:avLst>
              <a:gd name="adj" fmla="val 1674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255416"/>
            <a:ext cx="2717229" cy="1111597"/>
          </a:xfrm>
          <a:custGeom>
            <a:avLst/>
            <a:gdLst/>
            <a:ahLst/>
            <a:cxnLst/>
            <a:rect l="l" t="t" r="r" b="b"/>
            <a:pathLst>
              <a:path w="2717229" h="1111597">
                <a:moveTo>
                  <a:pt x="15506" y="0"/>
                </a:moveTo>
                <a:lnTo>
                  <a:pt x="2717229" y="0"/>
                </a:lnTo>
                <a:lnTo>
                  <a:pt x="2717229" y="1111597"/>
                </a:lnTo>
                <a:lnTo>
                  <a:pt x="15506" y="1111597"/>
                </a:lnTo>
                <a:arcTo hR="15506" wR="15506" stAng="5400000" swAng="5400000"/>
                <a:lnTo>
                  <a:pt x="0" y="15506"/>
                </a:lnTo>
                <a:arcTo hR="15506" wR="15506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620092" y="2379390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ML-Driven Lead Scoring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092" y="2647652"/>
            <a:ext cx="24692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Evaluates lead quality using engineered features and predictive models to produce a 0–100 score.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3348" y="2255416"/>
            <a:ext cx="2717229" cy="111159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9" name="Shape 7"/>
          <p:cNvSpPr/>
          <p:nvPr/>
        </p:nvSpPr>
        <p:spPr>
          <a:xfrm>
            <a:off x="3213348" y="2255416"/>
            <a:ext cx="14288" cy="1111597"/>
          </a:xfrm>
          <a:prstGeom prst="roundRect">
            <a:avLst>
              <a:gd name="adj" fmla="val 49998"/>
            </a:avLst>
          </a:prstGeom>
          <a:solidFill>
            <a:srgbClr val="D8D4D4"/>
          </a:solidFill>
          <a:ln/>
        </p:spPr>
      </p:sp>
      <p:sp>
        <p:nvSpPr>
          <p:cNvPr id="10" name="Text 8"/>
          <p:cNvSpPr/>
          <p:nvPr/>
        </p:nvSpPr>
        <p:spPr>
          <a:xfrm>
            <a:off x="3337322" y="2379390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322" y="2647652"/>
            <a:ext cx="24692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Converts scoring results into three actionable sales decisions: timing, channel, and content strategy.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30578" y="2255416"/>
            <a:ext cx="2717229" cy="1111597"/>
          </a:xfrm>
          <a:custGeom>
            <a:avLst/>
            <a:gdLst/>
            <a:ahLst/>
            <a:cxnLst/>
            <a:rect l="l" t="t" r="r" b="b"/>
            <a:pathLst>
              <a:path w="2717229" h="1111597">
                <a:moveTo>
                  <a:pt x="0" y="0"/>
                </a:moveTo>
                <a:lnTo>
                  <a:pt x="2701724" y="0"/>
                </a:lnTo>
                <a:arcTo hR="15506" wR="15506" stAng="16200000" swAng="5400000"/>
                <a:lnTo>
                  <a:pt x="2717229" y="1096091"/>
                </a:lnTo>
                <a:arcTo hR="15506" wR="15506" stAng="0" swAng="5400000"/>
                <a:lnTo>
                  <a:pt x="0" y="1111597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30578" y="2255416"/>
            <a:ext cx="14288" cy="1111597"/>
          </a:xfrm>
          <a:prstGeom prst="roundRect">
            <a:avLst>
              <a:gd name="adj" fmla="val 49998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6054551" y="2379390"/>
            <a:ext cx="2469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Frontend UX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54551" y="2647652"/>
            <a:ext cx="24692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reps interact through a single dashboard with transparent AI reasoning and next-best-action guidance.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7519" y="350653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technical deep-dive into Module 4 of the SalesGenie CRM platform — designed for enterprise sales teams.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7474"/>
            <a:ext cx="1061591" cy="150168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427" y="423044"/>
            <a:ext cx="79028" cy="79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3968" y="417091"/>
            <a:ext cx="1281633" cy="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STATEMENT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496119" y="569119"/>
            <a:ext cx="8151763" cy="308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The Sales Prioritization Challenge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96119" y="996107"/>
            <a:ext cx="8151763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Enterprise sales teams process dozens of inbound and outbound leads daily, yet most prioritization decisions remain manual, inconsistent, and time-consuming. The result: high-value opportunities stall while reps invest effort in low-potential leads.</a:t>
            </a:r>
            <a:endParaRPr lang="en-US" sz="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457325"/>
            <a:ext cx="4794572" cy="7434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6378" y="1570434"/>
            <a:ext cx="4511204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Volume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66378" y="1803574"/>
            <a:ext cx="4511204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reps manage dozens of leads simultaneously, making it impossible to manually evaluate each one with equal rigor.</a:t>
            </a:r>
            <a:endParaRPr lang="en-US" sz="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279526"/>
            <a:ext cx="4794572" cy="74347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6378" y="2392635"/>
            <a:ext cx="4511204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Inconsistency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666378" y="2625775"/>
            <a:ext cx="4511204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Prioritization quality varies by representative — two reps reviewing the same lead often reach different conclusions.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101727"/>
            <a:ext cx="4794572" cy="74347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6378" y="3214836"/>
            <a:ext cx="4511204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Inefficiency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666378" y="3447976"/>
            <a:ext cx="4511204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significant share of selling time is spent on low-quality leads, reducing overall pipeline conversion rates.</a:t>
            </a:r>
            <a:endParaRPr lang="en-US" sz="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923928"/>
            <a:ext cx="4794572" cy="74347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6378" y="4037037"/>
            <a:ext cx="4511204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Uncertainty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666378" y="4270177"/>
            <a:ext cx="4511204" cy="284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Without a structured scoring framework, it is unclear which leads require immediate attention versus nurturing.</a:t>
            </a:r>
            <a:endParaRPr lang="en-US" sz="750" dirty="0"/>
          </a:p>
        </p:txBody>
      </p:sp>
      <p:sp>
        <p:nvSpPr>
          <p:cNvPr id="19" name="Shape 12"/>
          <p:cNvSpPr/>
          <p:nvPr/>
        </p:nvSpPr>
        <p:spPr>
          <a:xfrm>
            <a:off x="5465415" y="1368772"/>
            <a:ext cx="3258294" cy="3387179"/>
          </a:xfrm>
          <a:prstGeom prst="roundRect">
            <a:avLst>
              <a:gd name="adj" fmla="val 455"/>
            </a:avLst>
          </a:prstGeom>
          <a:solidFill>
            <a:srgbClr val="0066CC"/>
          </a:solidFill>
          <a:ln/>
        </p:spPr>
      </p:sp>
      <p:sp>
        <p:nvSpPr>
          <p:cNvPr id="20" name="Text 13"/>
          <p:cNvSpPr/>
          <p:nvPr/>
        </p:nvSpPr>
        <p:spPr>
          <a:xfrm>
            <a:off x="5564237" y="1447502"/>
            <a:ext cx="3060650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Module 4 Objective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5564237" y="1680642"/>
            <a:ext cx="3060650" cy="426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Automatically evaluate lead quality using ML signals and recommend the most appropriate follow-up strategy — ensuring every rep acts on data, not instinct.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5564237" y="2220069"/>
            <a:ext cx="3060650" cy="14288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3" name="Text 16"/>
          <p:cNvSpPr/>
          <p:nvPr/>
        </p:nvSpPr>
        <p:spPr>
          <a:xfrm>
            <a:off x="5564237" y="2347615"/>
            <a:ext cx="3060650" cy="1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Design Principles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5564237" y="2580754"/>
            <a:ext cx="3060650" cy="650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20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Data-driven over heuristic</a:t>
            </a:r>
            <a:endParaRPr lang="en-US" sz="750" dirty="0"/>
          </a:p>
          <a:p>
            <a:pPr algn="l" marL="152400" indent="-152400">
              <a:lnSpc>
                <a:spcPct val="120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Transparent AI reasoning</a:t>
            </a:r>
            <a:endParaRPr lang="en-US" sz="750" dirty="0"/>
          </a:p>
          <a:p>
            <a:pPr algn="l" marL="152400" indent="-152400">
              <a:lnSpc>
                <a:spcPct val="120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Actionable, not just informational</a:t>
            </a:r>
            <a:endParaRPr lang="en-US" sz="750" dirty="0"/>
          </a:p>
          <a:p>
            <a:pPr algn="l" marL="152400" indent="-152400">
              <a:lnSpc>
                <a:spcPct val="120000"/>
              </a:lnSpc>
              <a:buSzPct val="100000"/>
              <a:buChar char="•"/>
            </a:pPr>
            <a:r>
              <a:rPr lang="en-US" sz="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Consistent across the team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0788"/>
            <a:ext cx="840953" cy="135434"/>
          </a:xfrm>
          <a:prstGeom prst="roundRect">
            <a:avLst>
              <a:gd name="adj" fmla="val 7900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548" y="382860"/>
            <a:ext cx="71289" cy="7128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6481" y="377503"/>
            <a:ext cx="1084362" cy="82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ML ARCHITECTURE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496119" y="511820"/>
            <a:ext cx="8151763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AI/ML Lead Scoring Pipeline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496119" y="886420"/>
            <a:ext cx="8151763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scoring pipeline transforms raw lead attributes and behavioral signals into a quantified quality assessment. Three stages of processing produce a multi-dimensional output consumed by the dashboard and Recommendation Engine.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203573"/>
            <a:ext cx="8151763" cy="223487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78791" y="2011150"/>
            <a:ext cx="1231850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Input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478791" y="2294452"/>
            <a:ext cx="1231850" cy="454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 attributes, engagement signals, BI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141353" y="1598941"/>
            <a:ext cx="1231850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141353" y="2102807"/>
            <a:ext cx="1231850" cy="60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Industry, size, status, engagement metrics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835284" y="2011150"/>
            <a:ext cx="1231850" cy="441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ML Prediction Model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835284" y="2515016"/>
            <a:ext cx="1231850" cy="454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Gradient-boosted classifier on conversions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513530" y="1971081"/>
            <a:ext cx="1231849" cy="220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Output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513530" y="2254383"/>
            <a:ext cx="1231849" cy="454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 Score, conversion probability, priority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96119" y="3574554"/>
            <a:ext cx="25443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66CC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Input Signals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96119" y="3777928"/>
            <a:ext cx="254436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Industry &amp; company size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 status &amp; lifecycle stage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Tech-stack match score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Budget alignment indicator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Website visit frequency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Email open &amp; click rates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Meetings scheduled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3262685" y="3574554"/>
            <a:ext cx="2628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66CC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19" name="Text 15"/>
          <p:cNvSpPr/>
          <p:nvPr/>
        </p:nvSpPr>
        <p:spPr>
          <a:xfrm>
            <a:off x="3262685" y="3777928"/>
            <a:ext cx="2628081" cy="702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Signal normalization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Engagement composite score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Firmographic weighting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Behavioral pattern extraction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Cross-signal interaction terms</a:t>
            </a:r>
            <a:endParaRPr lang="en-US" sz="700" dirty="0"/>
          </a:p>
        </p:txBody>
      </p:sp>
      <p:sp>
        <p:nvSpPr>
          <p:cNvPr id="20" name="Text 16"/>
          <p:cNvSpPr/>
          <p:nvPr/>
        </p:nvSpPr>
        <p:spPr>
          <a:xfrm>
            <a:off x="6112966" y="3574554"/>
            <a:ext cx="25443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0066CC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Model Outputs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6112966" y="3777928"/>
            <a:ext cx="2544366" cy="557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Lead Score (0–100)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Conversion Probability (%)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Confidence Level</a:t>
            </a:r>
            <a:endParaRPr lang="en-US" sz="700" dirty="0"/>
          </a:p>
          <a:p>
            <a:pPr algn="l" marL="142240" indent="-142240">
              <a:lnSpc>
                <a:spcPct val="115000"/>
              </a:lnSpc>
              <a:buSzPct val="100000"/>
              <a:buChar char="•"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Priority: High / Med / Low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8750"/>
            <a:ext cx="730969" cy="144214"/>
          </a:xfrm>
          <a:prstGeom prst="roundRect">
            <a:avLst>
              <a:gd name="adj" fmla="val 7903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45" y="392832"/>
            <a:ext cx="75977" cy="759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6973" y="387176"/>
            <a:ext cx="960388" cy="873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FRONTEND UX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496119" y="531986"/>
            <a:ext cx="8151763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Score Dashboard Experience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96119" y="937766"/>
            <a:ext cx="815176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scoring interface is designed for zero-friction insight retrieval. A single button triggers the full ML pipeline; results surface immediately in a structured, interpretable format that drives the rep's next action.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96119" y="1369516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96119" y="1521396"/>
            <a:ext cx="4379193" cy="9525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9" name="Text 6"/>
          <p:cNvSpPr/>
          <p:nvPr/>
        </p:nvSpPr>
        <p:spPr>
          <a:xfrm>
            <a:off x="496119" y="1587922"/>
            <a:ext cx="437919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Trigger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96119" y="1808931"/>
            <a:ext cx="437919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 clicks the </a:t>
            </a:r>
            <a:pPr algn="l" indent="0" marL="0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"Predict Lead Score"</a:t>
            </a:r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button on any lead detail page. The frontend dispatches the lead payload to the scoring API.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96119" y="2221037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496119" y="2372916"/>
            <a:ext cx="4379193" cy="9525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3" name="Text 10"/>
          <p:cNvSpPr/>
          <p:nvPr/>
        </p:nvSpPr>
        <p:spPr>
          <a:xfrm>
            <a:off x="496119" y="2439442"/>
            <a:ext cx="437919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Visualization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96119" y="2660452"/>
            <a:ext cx="437919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 animated progress indicator renders the score in real time. A color-coded priority badge (</a:t>
            </a:r>
            <a:pPr algn="l" indent="0" marL="0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High / Medium / Low</a:t>
            </a:r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) appears alongside the score gauge.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96119" y="3072557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96119" y="3224436"/>
            <a:ext cx="4379193" cy="9525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17" name="Text 14"/>
          <p:cNvSpPr/>
          <p:nvPr/>
        </p:nvSpPr>
        <p:spPr>
          <a:xfrm>
            <a:off x="496119" y="3290962"/>
            <a:ext cx="437919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Reasoning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96119" y="3511972"/>
            <a:ext cx="437919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dashboard surfaces a plain-language explanation of the score — identifying which signals contributed most to the rating, ensuring full transparency.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96119" y="3924077"/>
            <a:ext cx="189905" cy="1186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96119" y="4075956"/>
            <a:ext cx="4379193" cy="9525"/>
          </a:xfrm>
          <a:prstGeom prst="rect">
            <a:avLst/>
          </a:prstGeom>
          <a:solidFill>
            <a:srgbClr val="2150FE"/>
          </a:solidFill>
          <a:ln/>
        </p:spPr>
      </p:sp>
      <p:sp>
        <p:nvSpPr>
          <p:cNvPr id="21" name="Text 18"/>
          <p:cNvSpPr/>
          <p:nvPr/>
        </p:nvSpPr>
        <p:spPr>
          <a:xfrm>
            <a:off x="496119" y="4142482"/>
            <a:ext cx="4379193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Next Best Action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96119" y="4363492"/>
            <a:ext cx="4379193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Recommendation Engine result panel displays immediately below the score — showing the recommended timing, channel, and content strategy.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111800" y="1416993"/>
            <a:ext cx="1724992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84</a:t>
            </a:r>
            <a:endParaRPr lang="en-US" sz="2450" dirty="0"/>
          </a:p>
        </p:txBody>
      </p:sp>
      <p:sp>
        <p:nvSpPr>
          <p:cNvPr id="24" name="Text 21"/>
          <p:cNvSpPr/>
          <p:nvPr/>
        </p:nvSpPr>
        <p:spPr>
          <a:xfrm>
            <a:off x="5111800" y="1832372"/>
            <a:ext cx="1724992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Score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111800" y="2053382"/>
            <a:ext cx="1724992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 of 100 — </a:t>
            </a:r>
            <a:pPr algn="ctr" indent="0" marL="0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High Priority</a:t>
            </a:r>
            <a:pPr algn="ctr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classification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6927652" y="1416993"/>
            <a:ext cx="1724992" cy="313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84%</a:t>
            </a:r>
            <a:endParaRPr lang="en-US" sz="2450" dirty="0"/>
          </a:p>
        </p:txBody>
      </p:sp>
      <p:sp>
        <p:nvSpPr>
          <p:cNvPr id="27" name="Text 24"/>
          <p:cNvSpPr/>
          <p:nvPr/>
        </p:nvSpPr>
        <p:spPr>
          <a:xfrm>
            <a:off x="6927652" y="1832372"/>
            <a:ext cx="1724992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Conversion Probability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927652" y="2053382"/>
            <a:ext cx="1724992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Model-estimated likelihood of deal closure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5111800" y="2403351"/>
            <a:ext cx="3540844" cy="446484"/>
          </a:xfrm>
          <a:prstGeom prst="roundRect">
            <a:avLst>
              <a:gd name="adj" fmla="val 3191"/>
            </a:avLst>
          </a:prstGeom>
          <a:solidFill>
            <a:srgbClr val="CCD7FF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752" y="2511921"/>
            <a:ext cx="118690" cy="94952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420395" y="2492499"/>
            <a:ext cx="3137297" cy="268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Example output: Score 84/100, Conversion 84%, Priority: High — triggers immediate follow-up recommendation within 24–48 hours.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71252"/>
            <a:ext cx="1357313" cy="185514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9342" y="415156"/>
            <a:ext cx="97631" cy="97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5789" y="407863"/>
            <a:ext cx="1521619" cy="11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ENGINE ARCHITECTURE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604838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From Scoring to Recommendations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1166589"/>
            <a:ext cx="8151763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Recommendation Engine is a distinct component from the ML scorer. It operates downstream — consuming scoring outputs alongside contextual business signals to produce three structured, actionable decisions. It does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generate outreach content; that is handled by the Outreach Generator module.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96119" y="2003524"/>
            <a:ext cx="392697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Conceptual Separation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96119" y="2329458"/>
            <a:ext cx="3926979" cy="1995711"/>
          </a:xfrm>
          <a:prstGeom prst="roundRect">
            <a:avLst>
              <a:gd name="adj" fmla="val 91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6119" y="2684190"/>
            <a:ext cx="3926979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96119" y="3230389"/>
            <a:ext cx="3926979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96119" y="3776588"/>
            <a:ext cx="3926979" cy="763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23367" y="2411090"/>
            <a:ext cx="15186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Component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928887" y="2411090"/>
            <a:ext cx="15186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Role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234407" y="2411090"/>
            <a:ext cx="15186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Output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23367" y="2763441"/>
            <a:ext cx="15186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Lead Scoring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928887" y="2763441"/>
            <a:ext cx="106144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Evaluates lead quality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234407" y="2763441"/>
            <a:ext cx="106144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Score, Probability, Priority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3367" y="3309640"/>
            <a:ext cx="15186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Rec. Engine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928887" y="3309640"/>
            <a:ext cx="106144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Decides follow-up strategy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234407" y="3309640"/>
            <a:ext cx="106144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Timing, Channel, Content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23367" y="3855839"/>
            <a:ext cx="151864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Outreach Generator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928887" y="3855839"/>
            <a:ext cx="106144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Drafts communication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3234407" y="3855839"/>
            <a:ext cx="106144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Email / Message copy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725665" y="2003524"/>
            <a:ext cx="392697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Engine Input Signals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725665" y="2329458"/>
            <a:ext cx="1903363" cy="748829"/>
          </a:xfrm>
          <a:prstGeom prst="roundRect">
            <a:avLst>
              <a:gd name="adj" fmla="val 2446"/>
            </a:avLst>
          </a:prstGeom>
          <a:solidFill>
            <a:srgbClr val="F2EEEE"/>
          </a:solidFill>
          <a:ln/>
        </p:spPr>
      </p:sp>
      <p:sp>
        <p:nvSpPr>
          <p:cNvPr id="26" name="Text 23"/>
          <p:cNvSpPr/>
          <p:nvPr/>
        </p:nvSpPr>
        <p:spPr>
          <a:xfrm>
            <a:off x="4847704" y="2451497"/>
            <a:ext cx="1659285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47704" y="2762399"/>
            <a:ext cx="165928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0–100 ML output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749207" y="2329458"/>
            <a:ext cx="1903437" cy="748829"/>
          </a:xfrm>
          <a:prstGeom prst="roundRect">
            <a:avLst>
              <a:gd name="adj" fmla="val 2446"/>
            </a:avLst>
          </a:prstGeom>
          <a:solidFill>
            <a:srgbClr val="F2EEEE"/>
          </a:solidFill>
          <a:ln/>
        </p:spPr>
      </p:sp>
      <p:sp>
        <p:nvSpPr>
          <p:cNvPr id="29" name="Text 26"/>
          <p:cNvSpPr/>
          <p:nvPr/>
        </p:nvSpPr>
        <p:spPr>
          <a:xfrm>
            <a:off x="6871246" y="2451497"/>
            <a:ext cx="165935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871246" y="2762399"/>
            <a:ext cx="165935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Behavioral composite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725665" y="3198465"/>
            <a:ext cx="1903363" cy="748829"/>
          </a:xfrm>
          <a:prstGeom prst="roundRect">
            <a:avLst>
              <a:gd name="adj" fmla="val 2446"/>
            </a:avLst>
          </a:prstGeom>
          <a:solidFill>
            <a:srgbClr val="F2EEEE"/>
          </a:solidFill>
          <a:ln/>
        </p:spPr>
      </p:sp>
      <p:sp>
        <p:nvSpPr>
          <p:cNvPr id="32" name="Text 29"/>
          <p:cNvSpPr/>
          <p:nvPr/>
        </p:nvSpPr>
        <p:spPr>
          <a:xfrm>
            <a:off x="4847704" y="3320504"/>
            <a:ext cx="1659285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847704" y="3631406"/>
            <a:ext cx="165928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classification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749207" y="3198465"/>
            <a:ext cx="1903437" cy="748829"/>
          </a:xfrm>
          <a:prstGeom prst="roundRect">
            <a:avLst>
              <a:gd name="adj" fmla="val 2446"/>
            </a:avLst>
          </a:prstGeom>
          <a:solidFill>
            <a:srgbClr val="F2EEEE"/>
          </a:solidFill>
          <a:ln/>
        </p:spPr>
      </p:sp>
      <p:sp>
        <p:nvSpPr>
          <p:cNvPr id="35" name="Text 32"/>
          <p:cNvSpPr/>
          <p:nvPr/>
        </p:nvSpPr>
        <p:spPr>
          <a:xfrm>
            <a:off x="6871246" y="3320504"/>
            <a:ext cx="1659359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Business Signals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71246" y="3631406"/>
            <a:ext cx="165935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Budget, tech fit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4725665" y="4082504"/>
            <a:ext cx="3926979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These four input dimensions are processed through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intelligent decision logic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 produce exactly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0066CC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three recommendation decisions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lead evaluation.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0281"/>
            <a:ext cx="1363638" cy="188565"/>
          </a:xfrm>
          <a:prstGeom prst="roundRect">
            <a:avLst>
              <a:gd name="adj" fmla="val 7894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33" y="624929"/>
            <a:ext cx="99194" cy="991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9286" y="617488"/>
            <a:ext cx="1523256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DECISION FRAMEWORK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96119" y="818406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Three Recommendation Decisions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496119" y="139198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lead evaluation produces exactly three structured outputs from the Recommendation Engine. These decisions are deterministic, auditable, and calibrated by lead score band, engagement tier, and industry vertical.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28440"/>
            <a:ext cx="2634555" cy="26347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20379" y="2012454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634380" y="2438772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Follow-up Timing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34380" y="2707035"/>
            <a:ext cx="2358033" cy="1674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Within 24–48 hours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High-score, high-engagement leads requiring immediate action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Within 3–5 days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Medium-priority leads in active consideration stage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Within 1–2 weeks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Early-stage or low-engagement leads requiring nurturing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4648" y="1928440"/>
            <a:ext cx="2634630" cy="26347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478908" y="2012454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3392909" y="2438772"/>
            <a:ext cx="235810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Communication Channel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3392909" y="2707035"/>
            <a:ext cx="2358107" cy="1277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Primary: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Email · Phone Call · LinkedIn · Meeting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Secondary: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Email · Phone Call · LinkedIn · Meeting · None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Channel selection is calibrated to engagement pattern and lead seniority</a:t>
            </a:r>
            <a:endParaRPr lang="en-US" sz="9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3252" y="1928440"/>
            <a:ext cx="2634555" cy="26347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237512" y="2012454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151513" y="2438772"/>
            <a:ext cx="23580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Content Strategy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151513" y="2707035"/>
            <a:ext cx="2358033" cy="1717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Technology: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Adoption, scalability, integration, business value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Finance: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Security, compliance, efficiency, measurable outcomes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Healthcare: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Security, reliability, workflow integration, efficiency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Other:</a:t>
            </a:r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Use cases, business value, efficiency, ROI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8441"/>
            <a:ext cx="786705" cy="141387"/>
          </a:xfrm>
          <a:prstGeom prst="roundRect">
            <a:avLst>
              <a:gd name="adj" fmla="val 7896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929" y="421928"/>
            <a:ext cx="74414" cy="744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3550" y="416347"/>
            <a:ext cx="1020663" cy="85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EXPLAINABILITY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496119" y="557733"/>
            <a:ext cx="8151763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Explainability &amp; Decision Logic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96119" y="953095"/>
            <a:ext cx="8151763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recommendation is grounded in auditable data signals — not opaque heuristics. The platform surfaces a plain-language rationale for each score and recommendation, enabling sales reps to trust, verify, and act on AI outputs with confidence.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96119" y="1361703"/>
            <a:ext cx="396240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Driving Signals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5171" y="1617390"/>
            <a:ext cx="3683347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Score Strength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5171" y="1832446"/>
            <a:ext cx="368334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raw 0–100 score anchors the urgency tier and recommendation band.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75171" y="2134121"/>
            <a:ext cx="3683347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Engagement Level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75171" y="2349178"/>
            <a:ext cx="368334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Composite of website visits, email opens, and meetings — indicates active buying intent.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75171" y="2650852"/>
            <a:ext cx="3683347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Technology Fit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5171" y="2865909"/>
            <a:ext cx="368334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Alignment between the lead's tech stack and the SalesGenie platform capabilities.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775171" y="3167583"/>
            <a:ext cx="3683347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Budget Alignment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5171" y="3382640"/>
            <a:ext cx="3683347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Estimated budget bracket versus product pricing tier — filters out financially unqualified leads.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775171" y="3814539"/>
            <a:ext cx="3683347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 Context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75171" y="4029596"/>
            <a:ext cx="368334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Sector classification drives content strategy selection and compliance framing.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775171" y="4331271"/>
            <a:ext cx="3683347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Conversion Probability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75171" y="4546327"/>
            <a:ext cx="3683347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ML-estimated close likelihood — the primary driver of follow-up timing urgency.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623271" y="1291977"/>
            <a:ext cx="4096345" cy="3463007"/>
          </a:xfrm>
          <a:prstGeom prst="roundRect">
            <a:avLst>
              <a:gd name="adj" fmla="val 403"/>
            </a:avLst>
          </a:prstGeom>
          <a:solidFill>
            <a:srgbClr val="1F293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6289" y="1361703"/>
            <a:ext cx="391031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Live Rationale Example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855815" y="1648197"/>
            <a:ext cx="3770784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"Recommendation based on strong lead score (84/100), high engagement, and strong technology fit."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4716289" y="1585466"/>
            <a:ext cx="9525" cy="385911"/>
          </a:xfrm>
          <a:prstGeom prst="roundRect">
            <a:avLst>
              <a:gd name="adj" fmla="val 50000"/>
            </a:avLst>
          </a:prstGeom>
          <a:solidFill>
            <a:srgbClr val="2150FE"/>
          </a:solidFill>
          <a:ln/>
        </p:spPr>
      </p:sp>
      <p:sp>
        <p:nvSpPr>
          <p:cNvPr id="24" name="Shape 21"/>
          <p:cNvSpPr/>
          <p:nvPr/>
        </p:nvSpPr>
        <p:spPr>
          <a:xfrm>
            <a:off x="4716289" y="2073027"/>
            <a:ext cx="3910310" cy="9525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4716289" y="2184202"/>
            <a:ext cx="3910310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Decoded Decision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16289" y="2399258"/>
            <a:ext cx="3910310" cy="439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Timing:</a:t>
            </a:r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Within 24–48 hours — score ≥ 80 + high engagement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Channel:</a:t>
            </a:r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Phone Call (primary) + Email (secondary) — senior title, high engagement</a:t>
            </a:r>
            <a:endParaRPr lang="en-US" sz="700" dirty="0"/>
          </a:p>
          <a:p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Content:</a:t>
            </a:r>
            <a:pPr algn="l" marL="142240" indent="-142240">
              <a:lnSpc>
                <a:spcPct val="117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Technology framing — scalability and integration messaging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716289" y="2940397"/>
            <a:ext cx="3910310" cy="9525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4716289" y="3051572"/>
            <a:ext cx="3910310" cy="208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rationale string is dynamically composed from signal values at inference time — ensuring every explanation is specific to the individual lead, not a generic template.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61876"/>
            <a:ext cx="705892" cy="123676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934" y="391120"/>
            <a:ext cx="65112" cy="65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2565" y="386283"/>
            <a:ext cx="967829" cy="74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BUSINESS VALUE</a:t>
            </a:r>
            <a:endParaRPr lang="en-US" sz="500" dirty="0"/>
          </a:p>
        </p:txBody>
      </p:sp>
      <p:sp>
        <p:nvSpPr>
          <p:cNvPr id="5" name="Text 2"/>
          <p:cNvSpPr/>
          <p:nvPr/>
        </p:nvSpPr>
        <p:spPr>
          <a:xfrm>
            <a:off x="496119" y="506909"/>
            <a:ext cx="8151763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End-to-End Workflow &amp; Business Value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841325"/>
            <a:ext cx="8151763" cy="2157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4863" y="1570663"/>
            <a:ext cx="12322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Data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124863" y="1854054"/>
            <a:ext cx="1232236" cy="43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Raw attributes and behavioral signals ingested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536915" y="1326496"/>
            <a:ext cx="1232236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Lead Intelligence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2536915" y="1830520"/>
            <a:ext cx="1232236" cy="43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Feature engineering and signal enrichment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948967" y="1570663"/>
            <a:ext cx="12322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AI/ML Scoring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948967" y="1854054"/>
            <a:ext cx="1232236" cy="43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Model outputs Score, Probability, Priority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361019" y="1326496"/>
            <a:ext cx="1232236" cy="441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Recommendation Engine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361019" y="1830520"/>
            <a:ext cx="1232236" cy="43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Suggests Timing, Channel, Content strategy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780916" y="1570663"/>
            <a:ext cx="1232236" cy="220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 Action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780916" y="1854054"/>
            <a:ext cx="1232236" cy="438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6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 executes personalized data-driven follow-up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96119" y="3058418"/>
            <a:ext cx="2681660" cy="834926"/>
          </a:xfrm>
          <a:prstGeom prst="roundRect">
            <a:avLst>
              <a:gd name="adj" fmla="val 1463"/>
            </a:avLst>
          </a:prstGeom>
          <a:solidFill>
            <a:srgbClr val="F2EEEE"/>
          </a:solidFill>
          <a:ln/>
        </p:spPr>
      </p:sp>
      <p:sp>
        <p:nvSpPr>
          <p:cNvPr id="18" name="Shape 14"/>
          <p:cNvSpPr/>
          <p:nvPr/>
        </p:nvSpPr>
        <p:spPr>
          <a:xfrm>
            <a:off x="577453" y="3139753"/>
            <a:ext cx="244153" cy="244153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575" y="3206874"/>
            <a:ext cx="109835" cy="1098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77453" y="3437260"/>
            <a:ext cx="2518990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Faster Prioritization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577453" y="3596357"/>
            <a:ext cx="2518990" cy="21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Instant lead quality assessment eliminates manual triage — reps know immediately which leads to call first.</a:t>
            </a:r>
            <a:endParaRPr lang="en-US" sz="600" dirty="0"/>
          </a:p>
        </p:txBody>
      </p:sp>
      <p:sp>
        <p:nvSpPr>
          <p:cNvPr id="22" name="Shape 17"/>
          <p:cNvSpPr/>
          <p:nvPr/>
        </p:nvSpPr>
        <p:spPr>
          <a:xfrm>
            <a:off x="3231133" y="3058418"/>
            <a:ext cx="2681660" cy="834926"/>
          </a:xfrm>
          <a:prstGeom prst="roundRect">
            <a:avLst>
              <a:gd name="adj" fmla="val 1463"/>
            </a:avLst>
          </a:prstGeom>
          <a:solidFill>
            <a:srgbClr val="F2EEEE"/>
          </a:solidFill>
          <a:ln/>
        </p:spPr>
      </p:sp>
      <p:sp>
        <p:nvSpPr>
          <p:cNvPr id="23" name="Shape 18"/>
          <p:cNvSpPr/>
          <p:nvPr/>
        </p:nvSpPr>
        <p:spPr>
          <a:xfrm>
            <a:off x="3312468" y="3139753"/>
            <a:ext cx="244153" cy="244153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379589" y="3206874"/>
            <a:ext cx="109835" cy="10983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312468" y="3437260"/>
            <a:ext cx="2518990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Consistency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3312468" y="3596357"/>
            <a:ext cx="2518990" cy="21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Data-driven decisions are uniform across the entire sales team, removing rep-to-rep variability.</a:t>
            </a:r>
            <a:endParaRPr lang="en-US" sz="600" dirty="0"/>
          </a:p>
        </p:txBody>
      </p:sp>
      <p:sp>
        <p:nvSpPr>
          <p:cNvPr id="27" name="Shape 21"/>
          <p:cNvSpPr/>
          <p:nvPr/>
        </p:nvSpPr>
        <p:spPr>
          <a:xfrm>
            <a:off x="5966147" y="3058418"/>
            <a:ext cx="2681660" cy="834926"/>
          </a:xfrm>
          <a:prstGeom prst="roundRect">
            <a:avLst>
              <a:gd name="adj" fmla="val 1463"/>
            </a:avLst>
          </a:prstGeom>
          <a:solidFill>
            <a:srgbClr val="F2EEEE"/>
          </a:solidFill>
          <a:ln/>
        </p:spPr>
      </p:sp>
      <p:sp>
        <p:nvSpPr>
          <p:cNvPr id="28" name="Shape 22"/>
          <p:cNvSpPr/>
          <p:nvPr/>
        </p:nvSpPr>
        <p:spPr>
          <a:xfrm>
            <a:off x="6047482" y="3139753"/>
            <a:ext cx="244153" cy="244153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14604" y="3206874"/>
            <a:ext cx="109835" cy="10983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047482" y="3437260"/>
            <a:ext cx="2518990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Efficiency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6047482" y="3596357"/>
            <a:ext cx="2518990" cy="21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Sales reps concentrate effort on high-value leads, increasing pipeline conversion per rep per hour.</a:t>
            </a:r>
            <a:endParaRPr lang="en-US" sz="600" dirty="0"/>
          </a:p>
        </p:txBody>
      </p:sp>
      <p:sp>
        <p:nvSpPr>
          <p:cNvPr id="32" name="Shape 25"/>
          <p:cNvSpPr/>
          <p:nvPr/>
        </p:nvSpPr>
        <p:spPr>
          <a:xfrm>
            <a:off x="496119" y="3946699"/>
            <a:ext cx="4049167" cy="834926"/>
          </a:xfrm>
          <a:prstGeom prst="roundRect">
            <a:avLst>
              <a:gd name="adj" fmla="val 1463"/>
            </a:avLst>
          </a:prstGeom>
          <a:solidFill>
            <a:srgbClr val="F2EEEE"/>
          </a:solidFill>
          <a:ln/>
        </p:spPr>
      </p:sp>
      <p:sp>
        <p:nvSpPr>
          <p:cNvPr id="33" name="Shape 26"/>
          <p:cNvSpPr/>
          <p:nvPr/>
        </p:nvSpPr>
        <p:spPr>
          <a:xfrm>
            <a:off x="577453" y="4028033"/>
            <a:ext cx="244153" cy="244153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4575" y="4095155"/>
            <a:ext cx="109835" cy="10983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77453" y="4325541"/>
            <a:ext cx="388649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Personalization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577453" y="4484638"/>
            <a:ext cx="3886498" cy="21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Each lead receives a tailored engagement strategy — channel, timing, and messaging calibrated to their profile.</a:t>
            </a:r>
            <a:endParaRPr lang="en-US" sz="600" dirty="0"/>
          </a:p>
        </p:txBody>
      </p:sp>
      <p:sp>
        <p:nvSpPr>
          <p:cNvPr id="37" name="Shape 29"/>
          <p:cNvSpPr/>
          <p:nvPr/>
        </p:nvSpPr>
        <p:spPr>
          <a:xfrm>
            <a:off x="4598640" y="3946699"/>
            <a:ext cx="4049167" cy="834926"/>
          </a:xfrm>
          <a:prstGeom prst="roundRect">
            <a:avLst>
              <a:gd name="adj" fmla="val 1463"/>
            </a:avLst>
          </a:prstGeom>
          <a:solidFill>
            <a:srgbClr val="F2EEEE"/>
          </a:solidFill>
          <a:ln/>
        </p:spPr>
      </p:sp>
      <p:sp>
        <p:nvSpPr>
          <p:cNvPr id="38" name="Shape 30"/>
          <p:cNvSpPr/>
          <p:nvPr/>
        </p:nvSpPr>
        <p:spPr>
          <a:xfrm>
            <a:off x="4679975" y="4028033"/>
            <a:ext cx="244153" cy="244153"/>
          </a:xfrm>
          <a:prstGeom prst="ellipse">
            <a:avLst/>
          </a:prstGeom>
          <a:solidFill>
            <a:srgbClr val="2150FE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7096" y="4095155"/>
            <a:ext cx="109835" cy="10983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679975" y="4325541"/>
            <a:ext cx="3886498" cy="12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Clarity</a:t>
            </a:r>
            <a:endParaRPr lang="en-US" sz="800" dirty="0"/>
          </a:p>
        </p:txBody>
      </p:sp>
      <p:sp>
        <p:nvSpPr>
          <p:cNvPr id="41" name="Text 32"/>
          <p:cNvSpPr/>
          <p:nvPr/>
        </p:nvSpPr>
        <p:spPr>
          <a:xfrm>
            <a:off x="4679975" y="4484638"/>
            <a:ext cx="3886498" cy="21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Clear next-best-action guidance removes ambiguity — every rep knows the exact follow-up prescription for every lead.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2026-08-11T14:28:40Z</dcterms:created>
  <dcterms:modified xsi:type="dcterms:W3CDTF">2026-08-11T14:28:40Z</dcterms:modified>
</cp:coreProperties>
</file>