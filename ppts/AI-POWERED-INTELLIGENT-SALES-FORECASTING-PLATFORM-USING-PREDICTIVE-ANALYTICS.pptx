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7" r:id="rId14"/>
    <p:sldId id="268" r:id="rId15"/>
    <p:sldId id="269" r:id="rId16"/>
    <p:sldId id="270" r:id="rId17"/>
    <p:sldId id="265" r:id="rId18"/>
  </p:sldIdLst>
  <p:sldSz cx="12191365" cy="6858000"/>
  <p:notesSz cx="6858000" cy="12191365"/>
  <p:embeddedFontLst>
    <p:embeddedFont>
      <p:font typeface="Crimson Pro SemiBold" pitchFamily="34" charset="0"/>
      <p:bold r:id="rId22"/>
    </p:embeddedFont>
    <p:embeddedFont>
      <p:font typeface="Crimson Pro SemiBold" pitchFamily="34" charset="-122"/>
      <p:bold r:id="rId23"/>
    </p:embeddedFont>
    <p:embeddedFont>
      <p:font typeface="Crimson Pro SemiBold" pitchFamily="34" charset="-120"/>
      <p:bold r:id="rId24"/>
    </p:embeddedFont>
    <p:embeddedFont>
      <p:font typeface="Heebo" pitchFamily="34" charset="0"/>
      <p:regular r:id="rId25"/>
    </p:embeddedFont>
    <p:embeddedFont>
      <p:font typeface="Heebo" pitchFamily="34" charset="-122"/>
      <p:regular r:id="rId26"/>
    </p:embeddedFont>
    <p:embeddedFont>
      <p:font typeface="Heebo" pitchFamily="34" charset="-120"/>
      <p:regular r:id="rId27"/>
    </p:embeddedFont>
    <p:embeddedFont>
      <p:font typeface="Heebo Bold" pitchFamily="34" charset="0"/>
      <p:bold r:id="rId28"/>
    </p:embeddedFont>
    <p:embeddedFont>
      <p:font typeface="Heebo Bold" pitchFamily="34" charset="-122"/>
      <p:bold r:id="rId29"/>
    </p:embeddedFont>
    <p:embeddedFont>
      <p:font typeface="Heebo Bold" pitchFamily="34" charset="-120"/>
      <p:bold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9.sv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25.svg"/><Relationship Id="rId17" Type="http://schemas.openxmlformats.org/officeDocument/2006/relationships/image" Target="../media/image24.png"/><Relationship Id="rId16" Type="http://schemas.openxmlformats.org/officeDocument/2006/relationships/image" Target="../media/image23.svg"/><Relationship Id="rId15" Type="http://schemas.openxmlformats.org/officeDocument/2006/relationships/image" Target="../media/image22.png"/><Relationship Id="rId14" Type="http://schemas.openxmlformats.org/officeDocument/2006/relationships/image" Target="../media/image21.svg"/><Relationship Id="rId13" Type="http://schemas.openxmlformats.org/officeDocument/2006/relationships/image" Target="../media/image20.png"/><Relationship Id="rId12" Type="http://schemas.openxmlformats.org/officeDocument/2006/relationships/image" Target="../media/image19.svg"/><Relationship Id="rId11" Type="http://schemas.openxmlformats.org/officeDocument/2006/relationships/image" Target="../media/image18.png"/><Relationship Id="rId10" Type="http://schemas.openxmlformats.org/officeDocument/2006/relationships/image" Target="../media/image17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7072"/>
            <a:ext cx="10868745" cy="10334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AI-POWERED INTELLIGENT SALES FORECASTING PLATFORM USING PREDICTIVE ANALYTICS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74250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1475" y="2988866"/>
            <a:ext cx="3037407" cy="251420"/>
          </a:xfrm>
          <a:prstGeom prst="roundRect">
            <a:avLst>
              <a:gd name="adj" fmla="val 7894"/>
            </a:avLst>
          </a:prstGeom>
          <a:solidFill>
            <a:srgbClr val="CCD7FF"/>
          </a:solidFill>
        </p:spPr>
      </p:sp>
      <p:sp>
        <p:nvSpPr>
          <p:cNvPr id="5" name="Text 3"/>
          <p:cNvSpPr/>
          <p:nvPr/>
        </p:nvSpPr>
        <p:spPr>
          <a:xfrm>
            <a:off x="760691" y="3038475"/>
            <a:ext cx="3448559" cy="152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INFOSYS SPRINGBOARD INTERNSHIP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3306366"/>
            <a:ext cx="10868745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Team 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812877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074815"/>
            <a:ext cx="3512653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9" name="Text 7"/>
          <p:cNvSpPr/>
          <p:nvPr/>
        </p:nvSpPr>
        <p:spPr>
          <a:xfrm>
            <a:off x="661475" y="4195564"/>
            <a:ext cx="3512653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[NAME 1]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39422" y="3812877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4074815"/>
            <a:ext cx="3512752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12" name="Text 10"/>
          <p:cNvSpPr/>
          <p:nvPr/>
        </p:nvSpPr>
        <p:spPr>
          <a:xfrm>
            <a:off x="4339422" y="4195564"/>
            <a:ext cx="3512752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[NAME 2]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17468" y="3812877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4074815"/>
            <a:ext cx="3512653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15" name="Text 13"/>
          <p:cNvSpPr/>
          <p:nvPr/>
        </p:nvSpPr>
        <p:spPr>
          <a:xfrm>
            <a:off x="8017468" y="4195564"/>
            <a:ext cx="3512653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[NAME 3]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749502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5011440"/>
            <a:ext cx="5351626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18" name="Text 16"/>
          <p:cNvSpPr/>
          <p:nvPr/>
        </p:nvSpPr>
        <p:spPr>
          <a:xfrm>
            <a:off x="661475" y="5132189"/>
            <a:ext cx="5351626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[NAME 4]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8395" y="4749502"/>
            <a:ext cx="330688" cy="20667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8395" y="5011440"/>
            <a:ext cx="5351725" cy="1905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21" name="Text 19"/>
          <p:cNvSpPr/>
          <p:nvPr/>
        </p:nvSpPr>
        <p:spPr>
          <a:xfrm>
            <a:off x="6178395" y="5132189"/>
            <a:ext cx="5351725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[NAME 5]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8950"/>
            <a:ext cx="1448161" cy="231676"/>
          </a:xfrm>
          <a:prstGeom prst="roundRect">
            <a:avLst>
              <a:gd name="adj" fmla="val 7897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2952" y="534690"/>
            <a:ext cx="1874791" cy="140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&amp;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76784"/>
            <a:ext cx="10868745" cy="4764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 &amp;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1742" y="1464072"/>
            <a:ext cx="5243084" cy="4904978"/>
          </a:xfrm>
          <a:prstGeom prst="roundRect">
            <a:avLst>
              <a:gd name="adj" fmla="val 466"/>
            </a:avLst>
          </a:prstGeom>
          <a:solidFill>
            <a:srgbClr val="6366F1"/>
          </a:solidFill>
        </p:spPr>
      </p:sp>
      <p:sp>
        <p:nvSpPr>
          <p:cNvPr id="6" name="Text 4"/>
          <p:cNvSpPr/>
          <p:nvPr/>
        </p:nvSpPr>
        <p:spPr>
          <a:xfrm>
            <a:off x="704138" y="1604566"/>
            <a:ext cx="493829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Current Sales Challenges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286" y="2008436"/>
            <a:ext cx="228693" cy="2286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9525" y="2000845"/>
            <a:ext cx="1885903" cy="937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lead research consuming </a:t>
            </a: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hours per prospect</a:t>
            </a: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diverting rep time from selling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8189" y="2008436"/>
            <a:ext cx="228693" cy="2286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56427" y="2000845"/>
            <a:ext cx="1886002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Difficulty </a:t>
            </a: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prioritizing high-value prospects</a:t>
            </a: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amid noisy pipelines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286" y="3227338"/>
            <a:ext cx="228693" cy="2286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9525" y="3219748"/>
            <a:ext cx="1885903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Generic, </a:t>
            </a: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ineffective outreach messaging</a:t>
            </a: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yielding low response rates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8189" y="3227338"/>
            <a:ext cx="228693" cy="2286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56427" y="3219748"/>
            <a:ext cx="1886002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Missed follow-ups</a:t>
            </a: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lost opportunities from poor tracking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286" y="4211786"/>
            <a:ext cx="228693" cy="22869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99525" y="4204196"/>
            <a:ext cx="4442904" cy="4689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Scattered sales information </a:t>
            </a: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across multiple disconnected systems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063305" y="1604566"/>
            <a:ext cx="5473166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Our Solution: </a:t>
            </a:r>
            <a:r>
              <a:rPr lang="en-US" sz="1500" dirty="0">
                <a:solidFill>
                  <a:srgbClr val="00D4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SalesGenie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063305" y="1983284"/>
            <a:ext cx="5473166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AI-powered B2B sales intelligence and CRM platform that transforms raw prospect information into actionable sales intelligence, enabling sales teams to work smarter and close faster.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063305" y="2827139"/>
            <a:ext cx="5473166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Platform Flow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063305" y="3394869"/>
            <a:ext cx="547316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21" name="Shape 14"/>
          <p:cNvSpPr/>
          <p:nvPr/>
        </p:nvSpPr>
        <p:spPr>
          <a:xfrm>
            <a:off x="6671897" y="3394819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22" name="Shape 15"/>
          <p:cNvSpPr/>
          <p:nvPr/>
        </p:nvSpPr>
        <p:spPr>
          <a:xfrm>
            <a:off x="6509976" y="3223369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23" name="Text 16"/>
          <p:cNvSpPr/>
          <p:nvPr/>
        </p:nvSpPr>
        <p:spPr>
          <a:xfrm>
            <a:off x="6215701" y="4004766"/>
            <a:ext cx="931740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084142" y="3394819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25" name="Shape 18"/>
          <p:cNvSpPr/>
          <p:nvPr/>
        </p:nvSpPr>
        <p:spPr>
          <a:xfrm>
            <a:off x="7922221" y="3223369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26" name="Text 19"/>
          <p:cNvSpPr/>
          <p:nvPr/>
        </p:nvSpPr>
        <p:spPr>
          <a:xfrm>
            <a:off x="7627846" y="4004766"/>
            <a:ext cx="931839" cy="476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9496287" y="3394819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28" name="Shape 21"/>
          <p:cNvSpPr/>
          <p:nvPr/>
        </p:nvSpPr>
        <p:spPr>
          <a:xfrm>
            <a:off x="9334366" y="3223369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29" name="Text 22"/>
          <p:cNvSpPr/>
          <p:nvPr/>
        </p:nvSpPr>
        <p:spPr>
          <a:xfrm>
            <a:off x="9040090" y="4004766"/>
            <a:ext cx="931740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Scoring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10908531" y="3394819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31" name="Shape 24"/>
          <p:cNvSpPr/>
          <p:nvPr/>
        </p:nvSpPr>
        <p:spPr>
          <a:xfrm>
            <a:off x="10746610" y="3223369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32" name="Text 25"/>
          <p:cNvSpPr/>
          <p:nvPr/>
        </p:nvSpPr>
        <p:spPr>
          <a:xfrm>
            <a:off x="10452235" y="4004766"/>
            <a:ext cx="931839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Outreach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6063305" y="4810720"/>
            <a:ext cx="547316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34" name="Shape 27"/>
          <p:cNvSpPr/>
          <p:nvPr/>
        </p:nvSpPr>
        <p:spPr>
          <a:xfrm>
            <a:off x="6907337" y="4810671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35" name="Shape 28"/>
          <p:cNvSpPr/>
          <p:nvPr/>
        </p:nvSpPr>
        <p:spPr>
          <a:xfrm>
            <a:off x="6745416" y="4639221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36" name="Text 29"/>
          <p:cNvSpPr/>
          <p:nvPr/>
        </p:nvSpPr>
        <p:spPr>
          <a:xfrm>
            <a:off x="6215701" y="5420618"/>
            <a:ext cx="1402521" cy="476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8790264" y="4810671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38" name="Shape 31"/>
          <p:cNvSpPr/>
          <p:nvPr/>
        </p:nvSpPr>
        <p:spPr>
          <a:xfrm>
            <a:off x="8628343" y="4639221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39" name="Text 32"/>
          <p:cNvSpPr/>
          <p:nvPr/>
        </p:nvSpPr>
        <p:spPr>
          <a:xfrm>
            <a:off x="8098627" y="5420618"/>
            <a:ext cx="1402521" cy="476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Conv. Intelligence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10673190" y="4810671"/>
            <a:ext cx="19050" cy="457398"/>
          </a:xfrm>
          <a:prstGeom prst="roundRect">
            <a:avLst>
              <a:gd name="adj" fmla="val 49999"/>
            </a:avLst>
          </a:prstGeom>
          <a:solidFill>
            <a:srgbClr val="D8D4D4"/>
          </a:solidFill>
        </p:spPr>
      </p:sp>
      <p:sp>
        <p:nvSpPr>
          <p:cNvPr id="41" name="Shape 34"/>
          <p:cNvSpPr/>
          <p:nvPr/>
        </p:nvSpPr>
        <p:spPr>
          <a:xfrm>
            <a:off x="10511269" y="4639221"/>
            <a:ext cx="342991" cy="34299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42" name="Text 35"/>
          <p:cNvSpPr/>
          <p:nvPr/>
        </p:nvSpPr>
        <p:spPr>
          <a:xfrm>
            <a:off x="9981553" y="5420618"/>
            <a:ext cx="140252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6063305" y="6055122"/>
            <a:ext cx="6082751" cy="1874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stage is AI-augmented, ensuring every handoff enriches the lead records.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7284"/>
            <a:ext cx="1070345" cy="235446"/>
          </a:xfrm>
          <a:prstGeom prst="roundRect">
            <a:avLst>
              <a:gd name="adj" fmla="val 7903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4441" y="543719"/>
            <a:ext cx="1493999" cy="142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90873"/>
            <a:ext cx="10868745" cy="4844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Architecture Overview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638697"/>
            <a:ext cx="4120551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 Stack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44402"/>
            <a:ext cx="4120551" cy="9759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1698" y="2218432"/>
            <a:ext cx="3696302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1698" y="2605980"/>
            <a:ext cx="3696302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Browser access with role-based security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65673"/>
            <a:ext cx="4120551" cy="9759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1698" y="3339703"/>
            <a:ext cx="3696302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Streamlit Frontend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1698" y="3727252"/>
            <a:ext cx="3696302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Responsive UI for all six platform modules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286945"/>
            <a:ext cx="4120551" cy="9759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1698" y="4460974"/>
            <a:ext cx="3696302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11698" y="4848523"/>
            <a:ext cx="3696302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REST API layer for module logic and data flow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166588" y="1638697"/>
            <a:ext cx="6369883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Platform Modules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4729" y="2049165"/>
            <a:ext cx="232563" cy="2325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70408" y="2044402"/>
            <a:ext cx="2590239" cy="484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Management &amp; Prospect Database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670408" y="2674144"/>
            <a:ext cx="2590239" cy="7209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Capture, organize, and maintain structured prospect records as the foundation for all downstream AI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0453" y="2049165"/>
            <a:ext cx="232563" cy="2325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46132" y="2044402"/>
            <a:ext cx="2590338" cy="484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Intelligence &amp; Company Analysis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8946132" y="2674144"/>
            <a:ext cx="2590338" cy="7209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AI-driven deep analysis of company context, market position, and strategic signals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4729" y="3690541"/>
            <a:ext cx="232563" cy="23256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670408" y="3685778"/>
            <a:ext cx="2590239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Outreach Generation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5670408" y="4073327"/>
            <a:ext cx="2590239" cy="480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Industry-specific, LLM-powered personalized messaging at scale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0453" y="3690541"/>
            <a:ext cx="232563" cy="23256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946132" y="3685778"/>
            <a:ext cx="2590338" cy="484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Scoring &amp; Recommendation Engine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8946132" y="4315520"/>
            <a:ext cx="2590338" cy="480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fit scoring and prioritization for pipeline focus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4729" y="5091609"/>
            <a:ext cx="232563" cy="232569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670408" y="5086846"/>
            <a:ext cx="2590239" cy="4843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Conversation Intelligence &amp; CRM Integration</a:t>
            </a:r>
            <a:endParaRPr lang="en-US" sz="1500" dirty="0"/>
          </a:p>
        </p:txBody>
      </p:sp>
      <p:sp>
        <p:nvSpPr>
          <p:cNvPr id="30" name="Text 20"/>
          <p:cNvSpPr/>
          <p:nvPr/>
        </p:nvSpPr>
        <p:spPr>
          <a:xfrm>
            <a:off x="5670408" y="5716588"/>
            <a:ext cx="2590239" cy="480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call analysis and CRM data synchronization</a:t>
            </a:r>
            <a:endParaRPr lang="en-US" sz="12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0453" y="5091609"/>
            <a:ext cx="232563" cy="232569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946132" y="5086846"/>
            <a:ext cx="2590338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&amp; Sales Analytics</a:t>
            </a:r>
            <a:endParaRPr lang="en-US" sz="1500" dirty="0"/>
          </a:p>
        </p:txBody>
      </p:sp>
      <p:sp>
        <p:nvSpPr>
          <p:cNvPr id="33" name="Text 22"/>
          <p:cNvSpPr/>
          <p:nvPr/>
        </p:nvSpPr>
        <p:spPr>
          <a:xfrm>
            <a:off x="8946132" y="5474395"/>
            <a:ext cx="2590338" cy="7209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forecasting, KPI visualization, and performance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7320"/>
            <a:ext cx="792440" cy="239415"/>
          </a:xfrm>
          <a:prstGeom prst="roundRect">
            <a:avLst>
              <a:gd name="adj" fmla="val 7901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6028" y="514548"/>
            <a:ext cx="1212919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6762"/>
            <a:ext cx="10868745" cy="4926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1: Lead Management &amp; Prospect Database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61475" y="1634927"/>
            <a:ext cx="5804747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Purpose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2031405"/>
            <a:ext cx="5804747" cy="9850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 lead management system that captures, organizes, and maintains comprehensive prospect information as the </a:t>
            </a: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foundation for all downstream AI modules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Without clean, structured data at this layer, no AI enrichment downstream can perform reliably.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3166666"/>
            <a:ext cx="5804747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Capabilities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609479"/>
            <a:ext cx="236432" cy="2364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8121" y="3616325"/>
            <a:ext cx="2421869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Creation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48121" y="4012803"/>
            <a:ext cx="2421869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new prospects with structured, validated data entry across all required fields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707" y="3609479"/>
            <a:ext cx="236432" cy="2364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44353" y="3616325"/>
            <a:ext cx="2421869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Prospect Information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044353" y="4012803"/>
            <a:ext cx="2421869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Contact details, company information, and precise industry classification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079603"/>
            <a:ext cx="236432" cy="2364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8121" y="5086449"/>
            <a:ext cx="2421869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Status Tracking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048121" y="5482927"/>
            <a:ext cx="2421869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states: New → Contacted → Qualified → In-Progress → Closed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7707" y="5079603"/>
            <a:ext cx="236432" cy="2364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44353" y="5086449"/>
            <a:ext cx="2421869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Notes &amp; History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4044353" y="5482927"/>
            <a:ext cx="2421869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interaction history and contextual notes attached to every lead record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57134" y="1634927"/>
            <a:ext cx="4679337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1 Workflow</a:t>
            </a:r>
            <a:endParaRPr lang="en-US" sz="15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7134" y="2050157"/>
            <a:ext cx="2264512" cy="1954014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71124" y="2187377"/>
            <a:ext cx="236432" cy="23643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33739" y="2692301"/>
            <a:ext cx="1911302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Update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7033739" y="3088779"/>
            <a:ext cx="1911302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Status and notes updated in real-time as interactions progress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859" y="2050157"/>
            <a:ext cx="2264611" cy="1954014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85949" y="2187377"/>
            <a:ext cx="236432" cy="23643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448464" y="2692301"/>
            <a:ext cx="1911401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Manage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9448464" y="3088779"/>
            <a:ext cx="1911401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Search, filter, and segment the prospect database with precision</a:t>
            </a:r>
            <a:endParaRPr lang="en-US" sz="12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7134" y="4154388"/>
            <a:ext cx="2264512" cy="1954014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71124" y="4291608"/>
            <a:ext cx="236432" cy="23643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033739" y="4796532"/>
            <a:ext cx="1911302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Store</a:t>
            </a:r>
            <a:endParaRPr lang="en-US" sz="1550" dirty="0"/>
          </a:p>
        </p:txBody>
      </p:sp>
      <p:sp>
        <p:nvSpPr>
          <p:cNvPr id="32" name="Text 20"/>
          <p:cNvSpPr/>
          <p:nvPr/>
        </p:nvSpPr>
        <p:spPr>
          <a:xfrm>
            <a:off x="7033739" y="5193010"/>
            <a:ext cx="1911302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Normalized records persisted to the relational database layer</a:t>
            </a:r>
            <a:endParaRPr lang="en-US" sz="12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859" y="4154388"/>
            <a:ext cx="2264611" cy="1954014"/>
          </a:xfrm>
          <a:prstGeom prst="rect">
            <a:avLst/>
          </a:prstGeom>
        </p:spPr>
      </p:pic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85949" y="4291608"/>
            <a:ext cx="236432" cy="23643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9448464" y="4796532"/>
            <a:ext cx="1911401" cy="2462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Create Lead</a:t>
            </a:r>
            <a:endParaRPr lang="en-US" sz="1550" dirty="0"/>
          </a:p>
        </p:txBody>
      </p:sp>
      <p:sp>
        <p:nvSpPr>
          <p:cNvPr id="36" name="Text 22"/>
          <p:cNvSpPr/>
          <p:nvPr/>
        </p:nvSpPr>
        <p:spPr>
          <a:xfrm>
            <a:off x="9448464" y="5193010"/>
            <a:ext cx="1911401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 enters prospect details via the Streamlit UI form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8334"/>
            <a:ext cx="1464928" cy="231676"/>
          </a:xfrm>
          <a:prstGeom prst="roundRect">
            <a:avLst>
              <a:gd name="adj" fmla="val 7897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2952" y="524073"/>
            <a:ext cx="1891558" cy="140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1 —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6167"/>
            <a:ext cx="10868745" cy="4764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1: Prospect Database Example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593949"/>
            <a:ext cx="524844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Sample Lead Profile — </a:t>
            </a:r>
            <a:r>
              <a:rPr lang="en-US" sz="1500" dirty="0">
                <a:solidFill>
                  <a:srgbClr val="00D4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1475" y="1990229"/>
            <a:ext cx="5248441" cy="3852664"/>
          </a:xfrm>
          <a:prstGeom prst="roundRect">
            <a:avLst>
              <a:gd name="adj" fmla="val 59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415580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61475" y="2837755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61475" y="3259931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61475" y="3682107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61475" y="4104283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61475" y="4526459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61475" y="5183088"/>
            <a:ext cx="5248441" cy="953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820320" y="2087265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38141" y="2087265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0320" y="2509441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Company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38141" y="2509441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0320" y="2931616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38141" y="2931616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Technology / SaaS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320" y="3353792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Company Size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38141" y="3353792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Enterprise (5,000+ employees)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0320" y="3775968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Website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38141" y="3775968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salesforce.com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0320" y="4198144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 Status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38141" y="4198144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Qualified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0320" y="4620320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Contact Role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38141" y="4620320"/>
            <a:ext cx="2313029" cy="4689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Development Representative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0320" y="5276949"/>
            <a:ext cx="2922614" cy="2344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38141" y="5276949"/>
            <a:ext cx="2313029" cy="4689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Recent Series funding; expanding into AI/ML solutions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1475" y="6000948"/>
            <a:ext cx="524844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88129" y="1593949"/>
            <a:ext cx="5248441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Feature Set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88129" y="1990229"/>
            <a:ext cx="2553926" cy="189765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9574" y="2161679"/>
            <a:ext cx="2211035" cy="476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Advanced Search &amp; Filtering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59574" y="2778621"/>
            <a:ext cx="2211035" cy="937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Multi-dimensional search across company name, industry, size, status, and custom fields for rapid prospect discovery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82545" y="1990229"/>
            <a:ext cx="2554025" cy="189765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53991" y="2161679"/>
            <a:ext cx="2211134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Status Management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53991" y="2540397"/>
            <a:ext cx="2211134" cy="937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stage tracking with full audit trail — every status transition is logged with timestamp and user attribution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88129" y="4028380"/>
            <a:ext cx="2553926" cy="1893888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9574" y="4199830"/>
            <a:ext cx="2211035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 Field Architecture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59574" y="4578548"/>
            <a:ext cx="2211035" cy="937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Detailed lead profiles with extensible custom fields tailored to specific verticals and sales motions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82545" y="4028380"/>
            <a:ext cx="2554025" cy="1893888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53991" y="4199830"/>
            <a:ext cx="2211134" cy="238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Records for AI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153991" y="4578548"/>
            <a:ext cx="2211134" cy="11722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prospect data normalized and structured for direct consumption by Modules 2–6 without transformation overhead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1466"/>
            <a:ext cx="753151" cy="227806"/>
          </a:xfrm>
          <a:prstGeom prst="roundRect">
            <a:avLst>
              <a:gd name="adj" fmla="val 7895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1365" y="506413"/>
            <a:ext cx="1182956" cy="137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43545"/>
            <a:ext cx="10868745" cy="4684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2: Lead Intelligence &amp; Company Analysis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15653"/>
            <a:ext cx="10868745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 raw company information into </a:t>
            </a: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structured, actionable intelligence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informs all downstream AI decisions and sales strategies — eliminating hours of manual research per account.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161480"/>
            <a:ext cx="5251517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Analysis Dimensions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2548434"/>
            <a:ext cx="2557795" cy="1355427"/>
          </a:xfrm>
          <a:prstGeom prst="roundRect">
            <a:avLst>
              <a:gd name="adj" fmla="val 1659"/>
            </a:avLst>
          </a:prstGeom>
          <a:solidFill>
            <a:srgbClr val="F2EEEE"/>
          </a:solidFill>
        </p:spPr>
      </p:sp>
      <p:sp>
        <p:nvSpPr>
          <p:cNvPr id="8" name="Text 6"/>
          <p:cNvSpPr/>
          <p:nvPr/>
        </p:nvSpPr>
        <p:spPr>
          <a:xfrm>
            <a:off x="811291" y="2698254"/>
            <a:ext cx="225816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 Analysis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1291" y="3068241"/>
            <a:ext cx="2258162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trends, market position, and competitive landscape mapping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097" y="2548434"/>
            <a:ext cx="2557895" cy="1355427"/>
          </a:xfrm>
          <a:prstGeom prst="roundRect">
            <a:avLst>
              <a:gd name="adj" fmla="val 1659"/>
            </a:avLst>
          </a:prstGeom>
          <a:solidFill>
            <a:srgbClr val="F2EEEE"/>
          </a:solidFill>
        </p:spPr>
      </p:sp>
      <p:sp>
        <p:nvSpPr>
          <p:cNvPr id="11" name="Text 9"/>
          <p:cNvSpPr/>
          <p:nvPr/>
        </p:nvSpPr>
        <p:spPr>
          <a:xfrm>
            <a:off x="3504914" y="2698254"/>
            <a:ext cx="2258261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Company Size &amp; Scale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04914" y="3068241"/>
            <a:ext cx="2258261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estimates, employee count, and growth trajectory indicators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4039691"/>
            <a:ext cx="2557795" cy="1355427"/>
          </a:xfrm>
          <a:prstGeom prst="roundRect">
            <a:avLst>
              <a:gd name="adj" fmla="val 1659"/>
            </a:avLst>
          </a:prstGeom>
          <a:solidFill>
            <a:srgbClr val="F2EEEE"/>
          </a:solidFill>
        </p:spPr>
      </p:sp>
      <p:sp>
        <p:nvSpPr>
          <p:cNvPr id="14" name="Text 12"/>
          <p:cNvSpPr/>
          <p:nvPr/>
        </p:nvSpPr>
        <p:spPr>
          <a:xfrm>
            <a:off x="811291" y="4189512"/>
            <a:ext cx="225816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Profile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1291" y="4559498"/>
            <a:ext cx="2258162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Products, services, target markets, and core business model breakdown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55097" y="4039691"/>
            <a:ext cx="2557895" cy="1355427"/>
          </a:xfrm>
          <a:prstGeom prst="roundRect">
            <a:avLst>
              <a:gd name="adj" fmla="val 1659"/>
            </a:avLst>
          </a:prstGeom>
          <a:solidFill>
            <a:srgbClr val="F2EEEE"/>
          </a:solidFill>
        </p:spPr>
      </p:sp>
      <p:sp>
        <p:nvSpPr>
          <p:cNvPr id="17" name="Text 15"/>
          <p:cNvSpPr/>
          <p:nvPr/>
        </p:nvSpPr>
        <p:spPr>
          <a:xfrm>
            <a:off x="3504914" y="4189512"/>
            <a:ext cx="2258261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Environment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04914" y="4559498"/>
            <a:ext cx="2258261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Current tech stack, infrastructure maturity, and digital transformation stage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85053" y="2161480"/>
            <a:ext cx="5251517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Intelligence Pipeline</a:t>
            </a:r>
            <a:endParaRPr lang="en-US" sz="14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2838" y="2548434"/>
            <a:ext cx="5095946" cy="302448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909677" y="4749361"/>
            <a:ext cx="1266715" cy="4880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Profile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13269" y="4871372"/>
            <a:ext cx="1266715" cy="2440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90834" y="4749361"/>
            <a:ext cx="1266714" cy="4880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Company Input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285053" y="5725716"/>
            <a:ext cx="5251517" cy="5485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Rich, multi-dimensional company intelligence flows directly into Module 3 (Outreach Generation) and Module 4 (Lead Scoring), enabling personalized messaging and accurate opportunity prioritization without manual analyst intervention.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3415"/>
            <a:ext cx="1362835" cy="227806"/>
          </a:xfrm>
          <a:prstGeom prst="roundRect">
            <a:avLst>
              <a:gd name="adj" fmla="val 7895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51365" y="538361"/>
            <a:ext cx="1792640" cy="137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2 —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75494"/>
            <a:ext cx="10868745" cy="4684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2: AI Lead Intelligence Card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83432"/>
            <a:ext cx="5251517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Intelligence Card Components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70385"/>
            <a:ext cx="2557795" cy="20527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50483" y="2082800"/>
            <a:ext cx="179780" cy="2248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0341" y="2569865"/>
            <a:ext cx="2220063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0341" y="2939852"/>
            <a:ext cx="222006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Concise, LLM-generated overview of the prospect and the strategic sales opportunity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5097" y="1970385"/>
            <a:ext cx="2557895" cy="20527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4105" y="2082800"/>
            <a:ext cx="179780" cy="2248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23963" y="2569865"/>
            <a:ext cx="222016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Strengths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3963" y="2939852"/>
            <a:ext cx="2220162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competitive advantages, market position, and capability highlights relevant to the sales angle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158952"/>
            <a:ext cx="2557795" cy="20527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50483" y="4271367"/>
            <a:ext cx="179780" cy="2248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30341" y="4758432"/>
            <a:ext cx="2220063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Challenges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0341" y="5128419"/>
            <a:ext cx="2220063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Current pain points, business obstacles, and operational gaps that SalesGenie's offering can address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5097" y="4158952"/>
            <a:ext cx="2557895" cy="20527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44105" y="4271367"/>
            <a:ext cx="179780" cy="2248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523963" y="4758432"/>
            <a:ext cx="222016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Insights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3523963" y="5128419"/>
            <a:ext cx="2220162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priorities, expansion signals, and growth opportunities identified from public data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285053" y="1583432"/>
            <a:ext cx="5251517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Raw Data to Decision-Ready Intelligence</a:t>
            </a:r>
            <a:endParaRPr lang="en-US" sz="14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53" y="1970385"/>
            <a:ext cx="449648" cy="9525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70528" y="2120205"/>
            <a:ext cx="4666042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Raw Lead Data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870528" y="2490192"/>
            <a:ext cx="4666042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Company name, industry, size, website, and contextual notes from Module 1</a:t>
            </a:r>
            <a:endParaRPr lang="en-US" sz="11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877" y="3233043"/>
            <a:ext cx="449648" cy="9525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95352" y="3382863"/>
            <a:ext cx="4441218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Analysis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7095352" y="3752850"/>
            <a:ext cx="4441218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 processing across all five analysis dimensions — industry, scale, profile, tech, context</a:t>
            </a:r>
            <a:endParaRPr lang="en-US" sz="11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701" y="4495701"/>
            <a:ext cx="449648" cy="9525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320176" y="4645521"/>
            <a:ext cx="4216394" cy="234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Intelligence Card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7320176" y="5015508"/>
            <a:ext cx="421639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Structured, rep-ready intelligence card surfaced directly in the Streamlit UI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6548"/>
            <a:ext cx="649073" cy="196255"/>
          </a:xfrm>
          <a:prstGeom prst="roundRect">
            <a:avLst>
              <a:gd name="adj" fmla="val 7901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38963" y="515243"/>
            <a:ext cx="1103682" cy="1188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13085"/>
            <a:ext cx="10868745" cy="403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3: AI Outreach Generation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268313"/>
            <a:ext cx="11478330" cy="1840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personalized, industry-specific outreach messages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resonate with each prospect's unique business context and challenges — powered by LLM prompt engineering at scale.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666776"/>
            <a:ext cx="4717535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Personalization Framework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82192"/>
            <a:ext cx="4717535" cy="37449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90147" y="3547067"/>
            <a:ext cx="847767" cy="581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Personalized Outreach Message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4129" y="2358634"/>
            <a:ext cx="1261204" cy="193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Profile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24129" y="2607628"/>
            <a:ext cx="126120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Prospect role and pain points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21943" y="2358634"/>
            <a:ext cx="1261204" cy="193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Deliver to Sales Rep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21943" y="2607628"/>
            <a:ext cx="126120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Ready-to-send personalized copy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321943" y="4625434"/>
            <a:ext cx="1261204" cy="581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Industry-Specific Prompt Engineering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21943" y="5262137"/>
            <a:ext cx="126120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Crafted instructions for LLMs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24129" y="4722361"/>
            <a:ext cx="1261204" cy="3877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 Intelligence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24129" y="5165210"/>
            <a:ext cx="126120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Trends, benchmarks, challenges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79029" y="3571729"/>
            <a:ext cx="1288774" cy="193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Company Context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79029" y="3820724"/>
            <a:ext cx="128877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 size, goals, tech stack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60151" y="3578622"/>
            <a:ext cx="1288774" cy="193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LLM Processing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0151" y="3827617"/>
            <a:ext cx="1288774" cy="276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OpenAI or Claude generation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61475" y="5840611"/>
            <a:ext cx="4717535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1475" y="6143427"/>
            <a:ext cx="5327120" cy="1472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00471" y="1666776"/>
            <a:ext cx="5836000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Industry-Specific Messaging Examples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700471" y="1982192"/>
            <a:ext cx="2867549" cy="1297384"/>
          </a:xfrm>
          <a:prstGeom prst="roundRect">
            <a:avLst>
              <a:gd name="adj" fmla="val 1494"/>
            </a:avLst>
          </a:prstGeom>
          <a:solidFill>
            <a:srgbClr val="F2EEEE"/>
          </a:solidFill>
        </p:spPr>
      </p:sp>
      <p:sp>
        <p:nvSpPr>
          <p:cNvPr id="25" name="Text 22"/>
          <p:cNvSpPr/>
          <p:nvPr/>
        </p:nvSpPr>
        <p:spPr>
          <a:xfrm>
            <a:off x="5829650" y="2111375"/>
            <a:ext cx="2609189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</a:t>
            </a: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Technology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29650" y="2414191"/>
            <a:ext cx="2609189" cy="7362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Messaging centered on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adoption, cloud scalability,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competitive innovation velocity — speaking the language of CTOs and engineering leaders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668922" y="1982192"/>
            <a:ext cx="2867549" cy="1297384"/>
          </a:xfrm>
          <a:prstGeom prst="roundRect">
            <a:avLst>
              <a:gd name="adj" fmla="val 1494"/>
            </a:avLst>
          </a:prstGeom>
          <a:solidFill>
            <a:srgbClr val="F2EEEE"/>
          </a:solidFill>
        </p:spPr>
      </p:sp>
      <p:sp>
        <p:nvSpPr>
          <p:cNvPr id="28" name="Text 25"/>
          <p:cNvSpPr/>
          <p:nvPr/>
        </p:nvSpPr>
        <p:spPr>
          <a:xfrm>
            <a:off x="8798102" y="2111375"/>
            <a:ext cx="2609189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🏦</a:t>
            </a: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Finance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798102" y="2414191"/>
            <a:ext cx="2609189" cy="7362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Emphasis on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 posture, regulatory compliance,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risk management frameworks — addressing the priorities of CFOs and compliance officers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00471" y="3380482"/>
            <a:ext cx="5836000" cy="929283"/>
          </a:xfrm>
          <a:prstGeom prst="roundRect">
            <a:avLst>
              <a:gd name="adj" fmla="val 2086"/>
            </a:avLst>
          </a:prstGeom>
          <a:solidFill>
            <a:srgbClr val="F2EEEE"/>
          </a:solidFill>
        </p:spPr>
      </p:sp>
      <p:sp>
        <p:nvSpPr>
          <p:cNvPr id="31" name="Text 28"/>
          <p:cNvSpPr/>
          <p:nvPr/>
        </p:nvSpPr>
        <p:spPr>
          <a:xfrm>
            <a:off x="5829650" y="3509665"/>
            <a:ext cx="5577641" cy="201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Healthcare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829650" y="3812480"/>
            <a:ext cx="5577641" cy="3681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on </a:t>
            </a: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 protection (HIPAA), operational efficiency,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measurable patient outcome improvements for clinical and administrative buyers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497"/>
            <a:ext cx="875385" cy="264616"/>
          </a:xfrm>
          <a:prstGeom prst="roundRect">
            <a:avLst>
              <a:gd name="adj" fmla="val 7902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65950" y="598686"/>
            <a:ext cx="127602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75308"/>
            <a:ext cx="10868745" cy="544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Scoring &amp; Recommendation Engine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955" y="1660723"/>
            <a:ext cx="6027785" cy="4650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62500" y="3724887"/>
            <a:ext cx="1051288" cy="48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Flow Pipeline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96694" y="5261259"/>
            <a:ext cx="1563978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96694" y="5570029"/>
            <a:ext cx="1563978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31719" y="3722751"/>
            <a:ext cx="1598166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Next Best 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31719" y="4031521"/>
            <a:ext cx="1598166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Recommended move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89842" y="5141063"/>
            <a:ext cx="1563978" cy="48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89842" y="5690226"/>
            <a:ext cx="1563978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Maps to actions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46271" y="3714204"/>
            <a:ext cx="1598166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AI/ML Lead Scoring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46271" y="4022973"/>
            <a:ext cx="1598166" cy="184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fit model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54806" y="1778914"/>
            <a:ext cx="1606713" cy="7211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Data + Company Intelligence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54806" y="2568468"/>
            <a:ext cx="1606713" cy="3694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Profiles and firmographics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497"/>
            <a:ext cx="875385" cy="264616"/>
          </a:xfrm>
          <a:prstGeom prst="roundRect">
            <a:avLst>
              <a:gd name="adj" fmla="val 7902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65950" y="598686"/>
            <a:ext cx="127602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75308"/>
            <a:ext cx="10868745" cy="544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Scoring &amp; Recommendation Engine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955" y="1660723"/>
            <a:ext cx="6027785" cy="4650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62500" y="3724887"/>
            <a:ext cx="1051288" cy="48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Flow Pipeline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96694" y="5261259"/>
            <a:ext cx="1563978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96694" y="5570029"/>
            <a:ext cx="1563978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31719" y="3722751"/>
            <a:ext cx="1598166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Next Best 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31719" y="4031521"/>
            <a:ext cx="1598166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Recommended move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89842" y="5141063"/>
            <a:ext cx="1563978" cy="48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89842" y="5690226"/>
            <a:ext cx="1563978" cy="184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Maps to actions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46271" y="3714204"/>
            <a:ext cx="1598166" cy="24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AI/ML Lead Scoring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46271" y="4022973"/>
            <a:ext cx="1598166" cy="184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 fit model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54806" y="1778914"/>
            <a:ext cx="1606713" cy="7211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Data + Company Intelligence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54806" y="2568468"/>
            <a:ext cx="1606713" cy="3694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Profiles and firmographics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6064"/>
            <a:ext cx="949698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74879" y="632718"/>
            <a:ext cx="1332474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8808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 Engine — WHEN + WHERE + WHAT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12925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inputs combine into one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Next Best Action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327970"/>
            <a:ext cx="3496877" cy="2985294"/>
          </a:xfrm>
          <a:prstGeom prst="roundRect">
            <a:avLst>
              <a:gd name="adj" fmla="val 950"/>
            </a:avLst>
          </a:prstGeom>
          <a:solidFill>
            <a:srgbClr val="F2EEEE"/>
          </a:solidFill>
        </p:spPr>
      </p:sp>
      <p:sp>
        <p:nvSpPr>
          <p:cNvPr id="7" name="Text 5"/>
          <p:cNvSpPr/>
          <p:nvPr/>
        </p:nvSpPr>
        <p:spPr>
          <a:xfrm>
            <a:off x="850482" y="2516981"/>
            <a:ext cx="311886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WHEN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2932013"/>
            <a:ext cx="3118863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Follow-up timing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0482" y="3347839"/>
            <a:ext cx="3118863" cy="1776413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Status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History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2327970"/>
            <a:ext cx="3496877" cy="2985294"/>
          </a:xfrm>
          <a:prstGeom prst="roundRect">
            <a:avLst>
              <a:gd name="adj" fmla="val 950"/>
            </a:avLst>
          </a:prstGeom>
          <a:solidFill>
            <a:srgbClr val="F2EEEE"/>
          </a:solidFill>
        </p:spPr>
      </p:sp>
      <p:sp>
        <p:nvSpPr>
          <p:cNvPr id="11" name="Text 9"/>
          <p:cNvSpPr/>
          <p:nvPr/>
        </p:nvSpPr>
        <p:spPr>
          <a:xfrm>
            <a:off x="4536366" y="2516981"/>
            <a:ext cx="311886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WHERE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536366" y="2932013"/>
            <a:ext cx="3118863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Channel mix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36366" y="3347839"/>
            <a:ext cx="3118863" cy="1407914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Email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Phone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LinkedIn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2327970"/>
            <a:ext cx="3496877" cy="2985294"/>
          </a:xfrm>
          <a:prstGeom prst="roundRect">
            <a:avLst>
              <a:gd name="adj" fmla="val 950"/>
            </a:avLst>
          </a:prstGeom>
          <a:solidFill>
            <a:srgbClr val="F2EEEE"/>
          </a:solidFill>
        </p:spPr>
      </p:sp>
      <p:sp>
        <p:nvSpPr>
          <p:cNvPr id="15" name="Text 13"/>
          <p:cNvSpPr/>
          <p:nvPr/>
        </p:nvSpPr>
        <p:spPr>
          <a:xfrm>
            <a:off x="8222251" y="2516981"/>
            <a:ext cx="311886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WHAT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222251" y="2932013"/>
            <a:ext cx="3118863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Content strategy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2251" y="3347839"/>
            <a:ext cx="3118863" cy="1776413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Pain points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Needs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 stack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Value prop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CTA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525889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CCD7FF"/>
          </a:solidFill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793581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762129"/>
            <a:ext cx="1067507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WHEN + WHERE + WHAT = NEXT BEST ACTION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3419"/>
            <a:ext cx="875385" cy="264616"/>
          </a:xfrm>
          <a:prstGeom prst="roundRect">
            <a:avLst>
              <a:gd name="adj" fmla="val 7902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65950" y="735608"/>
            <a:ext cx="127602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12230"/>
            <a:ext cx="10868745" cy="544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Conversation Intelligence &amp; CRM Integration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81920"/>
            <a:ext cx="4657112" cy="20082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4868" y="4609361"/>
            <a:ext cx="1056533" cy="13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LLM Analysis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74868" y="4144475"/>
            <a:ext cx="1056533" cy="1320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Prompt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74868" y="3684284"/>
            <a:ext cx="1056533" cy="13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74868" y="3219399"/>
            <a:ext cx="1056533" cy="13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Transcript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49980" y="1958280"/>
            <a:ext cx="5786491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Outputs</a:t>
            </a:r>
            <a:endParaRPr lang="en-US" sz="1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9980" y="2411115"/>
            <a:ext cx="2812880" cy="10871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19451" y="2604393"/>
            <a:ext cx="2350136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019451" y="3037185"/>
            <a:ext cx="2350136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Short strategic recap.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3491" y="2411115"/>
            <a:ext cx="2812980" cy="10871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92963" y="2604393"/>
            <a:ext cx="2350235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Points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992963" y="3037185"/>
            <a:ext cx="2350235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Main themes and context.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9980" y="3658890"/>
            <a:ext cx="2812880" cy="10871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9451" y="3852168"/>
            <a:ext cx="2350136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Pain Points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019451" y="4284960"/>
            <a:ext cx="2350136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challenges.</a:t>
            </a:r>
            <a:endParaRPr lang="en-US" sz="13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3491" y="3658890"/>
            <a:ext cx="2812980" cy="10871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92963" y="3852168"/>
            <a:ext cx="2350235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Requirements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8992963" y="4284960"/>
            <a:ext cx="2350235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and technical needs.</a:t>
            </a:r>
            <a:endParaRPr lang="en-US" sz="13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9980" y="4906665"/>
            <a:ext cx="2812880" cy="10871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019451" y="5099943"/>
            <a:ext cx="2350136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Action Items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6019451" y="5532735"/>
            <a:ext cx="2350136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Next steps and owners.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8523"/>
            <a:ext cx="935213" cy="282674"/>
          </a:xfrm>
          <a:prstGeom prst="roundRect">
            <a:avLst>
              <a:gd name="adj" fmla="val 7899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73093" y="624284"/>
            <a:ext cx="1321561" cy="171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24421"/>
            <a:ext cx="10868745" cy="5814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Summarization &amp; Action Item Extraction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527533" y="1780580"/>
            <a:ext cx="5928172" cy="4508798"/>
          </a:xfrm>
          <a:prstGeom prst="roundRect">
            <a:avLst>
              <a:gd name="adj" fmla="val 619"/>
            </a:avLst>
          </a:prstGeom>
          <a:solidFill>
            <a:srgbClr val="F2F2F2"/>
          </a:solidFill>
        </p:spPr>
      </p:sp>
      <p:sp>
        <p:nvSpPr>
          <p:cNvPr id="6" name="Text 4"/>
          <p:cNvSpPr/>
          <p:nvPr/>
        </p:nvSpPr>
        <p:spPr>
          <a:xfrm>
            <a:off x="713563" y="1963738"/>
            <a:ext cx="5556111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Insights Extracted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5310" y="2524323"/>
            <a:ext cx="2061813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5310" y="2998192"/>
            <a:ext cx="2061813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Conversation overview and opportunity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7762" y="2524323"/>
            <a:ext cx="2061912" cy="5814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Pain Points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7762" y="3288903"/>
            <a:ext cx="206191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challenges and problems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15310" y="3955355"/>
            <a:ext cx="2061813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15310" y="4429224"/>
            <a:ext cx="2061813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and technical needs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07762" y="3955355"/>
            <a:ext cx="2061912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Interests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7762" y="4429224"/>
            <a:ext cx="206191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Products, features, solutions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15310" y="5095677"/>
            <a:ext cx="4954364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Important Discussion Points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15310" y="5569545"/>
            <a:ext cx="4954364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topics and context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47986" y="1780580"/>
            <a:ext cx="5022427" cy="4508798"/>
          </a:xfrm>
          <a:prstGeom prst="roundRect">
            <a:avLst>
              <a:gd name="adj" fmla="val 619"/>
            </a:avLst>
          </a:prstGeom>
          <a:solidFill>
            <a:srgbClr val="04318F"/>
          </a:solidFill>
        </p:spPr>
      </p:sp>
      <p:sp>
        <p:nvSpPr>
          <p:cNvPr id="18" name="Text 16"/>
          <p:cNvSpPr/>
          <p:nvPr/>
        </p:nvSpPr>
        <p:spPr>
          <a:xfrm>
            <a:off x="6834017" y="1963738"/>
            <a:ext cx="4650366" cy="290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Action Items Generated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34017" y="2460427"/>
            <a:ext cx="4650366" cy="2851150"/>
          </a:xfrm>
          <a:prstGeom prst="roundRect">
            <a:avLst>
              <a:gd name="adj" fmla="val 97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4017" y="2938562"/>
            <a:ext cx="4650366" cy="11629"/>
          </a:xfrm>
          <a:prstGeom prst="rect">
            <a:avLst/>
          </a:prstGeom>
          <a:solidFill>
            <a:srgbClr val="FFFFFF">
              <a:alpha val="24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834017" y="3649762"/>
            <a:ext cx="4650366" cy="11629"/>
          </a:xfrm>
          <a:prstGeom prst="rect">
            <a:avLst/>
          </a:prstGeom>
          <a:solidFill>
            <a:srgbClr val="FFFFFF">
              <a:alpha val="24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834017" y="4360962"/>
            <a:ext cx="4650366" cy="11629"/>
          </a:xfrm>
          <a:prstGeom prst="rect">
            <a:avLst/>
          </a:prstGeom>
          <a:solidFill>
            <a:srgbClr val="FFFFFF">
              <a:alpha val="2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7027091" y="258296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72583" y="258296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Owner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118075" y="258296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Timeline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27091" y="3057922"/>
            <a:ext cx="1173431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Send integration info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72583" y="305792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18075" y="3057922"/>
            <a:ext cx="1173431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next meeting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27091" y="3769122"/>
            <a:ext cx="1173431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 security info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72583" y="376912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118075" y="3769122"/>
            <a:ext cx="1173431" cy="472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next meeting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27091" y="4480322"/>
            <a:ext cx="1173431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Schedule technical discussion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72583" y="448032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118075" y="4480322"/>
            <a:ext cx="178301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Next week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113112" y="5682357"/>
            <a:ext cx="4980855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"It doesn't just summarize — it identifies next steps."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34017" y="5517555"/>
            <a:ext cx="25399" cy="565845"/>
          </a:xfrm>
          <a:prstGeom prst="roundRect">
            <a:avLst>
              <a:gd name="adj" fmla="val 50001"/>
            </a:avLst>
          </a:prstGeom>
          <a:solidFill>
            <a:srgbClr val="2150FE"/>
          </a:solid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309"/>
            <a:ext cx="875385" cy="264616"/>
          </a:xfrm>
          <a:prstGeom prst="roundRect">
            <a:avLst>
              <a:gd name="adj" fmla="val 7902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65950" y="622498"/>
            <a:ext cx="127602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99120"/>
            <a:ext cx="10868745" cy="544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Secure Access &amp; Sales Dashboard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684536"/>
            <a:ext cx="11478330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Role-based login gives a real-time view of sales metrics.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4073" y="2133005"/>
            <a:ext cx="4943550" cy="2701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13448" y="3318263"/>
            <a:ext cx="1145464" cy="311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Login / Authentication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14069" y="3292201"/>
            <a:ext cx="1145464" cy="311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SalesGenie Dashboard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15111"/>
            <a:ext cx="435559" cy="4355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475" y="5651401"/>
            <a:ext cx="3489039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Overview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61475" y="6019899"/>
            <a:ext cx="3489039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Leads, scores, and status.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1229" y="5015111"/>
            <a:ext cx="435559" cy="4355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51229" y="5651401"/>
            <a:ext cx="3489138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Pipeline Metrics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351229" y="6019899"/>
            <a:ext cx="3489138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Stage tracking and progress.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1082" y="5015111"/>
            <a:ext cx="435559" cy="43557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1082" y="5651401"/>
            <a:ext cx="3489138" cy="272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Recent Activities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041082" y="6019899"/>
            <a:ext cx="3489138" cy="267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Outreach and conversation updates.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1130"/>
            <a:ext cx="949698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</p:spPr>
      </p:sp>
      <p:sp>
        <p:nvSpPr>
          <p:cNvPr id="3" name="Text 1"/>
          <p:cNvSpPr/>
          <p:nvPr/>
        </p:nvSpPr>
        <p:spPr>
          <a:xfrm>
            <a:off x="774879" y="687784"/>
            <a:ext cx="1332474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MODULE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93874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Unified Sales Analytics &amp; End-to-End Workflow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57003"/>
            <a:ext cx="407074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Sources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64904"/>
            <a:ext cx="2035323" cy="756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482" y="3509963"/>
            <a:ext cx="1657309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&amp; Company Data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97" y="2564904"/>
            <a:ext cx="2035422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5804" y="3509963"/>
            <a:ext cx="1657408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Scoring &amp; Outreach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289524"/>
            <a:ext cx="2035323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482" y="5234583"/>
            <a:ext cx="1657309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Insights &amp; Conversations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797" y="4289524"/>
            <a:ext cx="2035422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85804" y="5234583"/>
            <a:ext cx="1657408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Unified Dashboard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5199726" y="2057003"/>
            <a:ext cx="6336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Metrics</a:t>
            </a:r>
            <a:endParaRPr lang="en-US" sz="1850" dirty="0"/>
          </a:p>
        </p:txBody>
      </p:sp>
      <p:sp>
        <p:nvSpPr>
          <p:cNvPr id="15" name="Shape 9"/>
          <p:cNvSpPr/>
          <p:nvPr/>
        </p:nvSpPr>
        <p:spPr>
          <a:xfrm>
            <a:off x="5199726" y="2564904"/>
            <a:ext cx="3073819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414133" y="2779316"/>
            <a:ext cx="26450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Leads &amp; Qualification</a:t>
            </a:r>
            <a:endParaRPr lang="en-US" sz="1850" dirty="0"/>
          </a:p>
        </p:txBody>
      </p:sp>
      <p:sp>
        <p:nvSpPr>
          <p:cNvPr id="17" name="Shape 11"/>
          <p:cNvSpPr/>
          <p:nvPr/>
        </p:nvSpPr>
        <p:spPr>
          <a:xfrm>
            <a:off x="8462552" y="2564904"/>
            <a:ext cx="3073918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676959" y="2779316"/>
            <a:ext cx="2645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Pipeline Stages</a:t>
            </a:r>
            <a:endParaRPr lang="en-US" sz="1850" dirty="0"/>
          </a:p>
        </p:txBody>
      </p:sp>
      <p:sp>
        <p:nvSpPr>
          <p:cNvPr id="19" name="Shape 13"/>
          <p:cNvSpPr/>
          <p:nvPr/>
        </p:nvSpPr>
        <p:spPr>
          <a:xfrm>
            <a:off x="5199726" y="3478014"/>
            <a:ext cx="3073819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414133" y="3692426"/>
            <a:ext cx="26450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Activity &amp; Engagement</a:t>
            </a:r>
            <a:endParaRPr lang="en-US" sz="1850" dirty="0"/>
          </a:p>
        </p:txBody>
      </p:sp>
      <p:sp>
        <p:nvSpPr>
          <p:cNvPr id="21" name="Shape 15"/>
          <p:cNvSpPr/>
          <p:nvPr/>
        </p:nvSpPr>
        <p:spPr>
          <a:xfrm>
            <a:off x="8462552" y="3478014"/>
            <a:ext cx="3073918" cy="72409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676959" y="3692426"/>
            <a:ext cx="2645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Insights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5199726" y="4414738"/>
            <a:ext cx="6336745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199726" y="5511006"/>
            <a:ext cx="6336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8635</Words>
  <Application>WPS Presentation</Application>
  <PresentationFormat>On-screen Show (16:9)</PresentationFormat>
  <Paragraphs>559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9" baseType="lpstr">
      <vt:lpstr>Arial</vt:lpstr>
      <vt:lpstr>SimSun</vt:lpstr>
      <vt:lpstr>Wingdings</vt:lpstr>
      <vt:lpstr>Crimson Pro SemiBold</vt:lpstr>
      <vt:lpstr>Crimson Pro SemiBold</vt:lpstr>
      <vt:lpstr>Crimson Pro SemiBold</vt:lpstr>
      <vt:lpstr>Heebo</vt:lpstr>
      <vt:lpstr>Heebo</vt:lpstr>
      <vt:lpstr>Heebo</vt:lpstr>
      <vt:lpstr>Crimson Pro Light</vt:lpstr>
      <vt:lpstr>Liberation Mono</vt:lpstr>
      <vt:lpstr>Crimson Pro Light</vt:lpstr>
      <vt:lpstr>Crimson Pro Light</vt:lpstr>
      <vt:lpstr>Heebo Bold</vt:lpstr>
      <vt:lpstr>Heebo Bold</vt:lpstr>
      <vt:lpstr>Heebo Bold</vt:lpstr>
      <vt:lpstr>Twemoji Mozilla</vt:lpstr>
      <vt:lpstr>Twemoji Mozilla</vt:lpstr>
      <vt:lpstr>Twemoji Mozilla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Nimisha Mishra</cp:lastModifiedBy>
  <cp:revision>2</cp:revision>
  <dcterms:created xsi:type="dcterms:W3CDTF">2026-08-21T03:35:00Z</dcterms:created>
  <dcterms:modified xsi:type="dcterms:W3CDTF">2026-08-21T05:22:26Z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4965035C92CA426F862F2717361B02DD_12</vt:lpwstr>
  </property>
</Properties>
</file>